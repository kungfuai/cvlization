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634901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17381" y="1862138"/>
            <a:ext cx="6909239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1200"/>
              </a:spcAft>
              <a:buNone/>
            </a:pPr>
            <a:r>
              <a:rPr lang="en-US" sz="30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Optical Music Recognition with VLMs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890004" y="2443163"/>
            <a:ext cx="3363992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&amp; Model Comparison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3603336" y="3081338"/>
            <a:ext cx="193718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30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KungFu AI — March 2026</a:t>
            </a:r>
            <a:endParaRPr lang="en-US" sz="13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Challenge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OMR?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Convert sheet music images to symbolic notation (MusicXML)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Enables editing, playback, search of scanned scores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Hard: 2D layout, polyphony, small symbols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VLMs?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Vision-Language Models see the full page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End-to-end: image → notation in one pass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separate detection/recognition stages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OpenScore Dataset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12775"/>
            <a:ext cx="8382000" cy="1491853"/>
          </a:xfrm>
          <a:prstGeom prst="roundRect">
            <a:avLst>
              <a:gd name="adj" fmla="val 3405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2925" y="1174700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OpenScore corpus (1,460 lieder, 122 quartets, 94 orchestra scores)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2925" y="1428601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Render: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MusicXML → LilyPond → PNG page images (835×1181px)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2925" y="1682502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Slice: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music21 splits MusicXML per page using SVG bar numbers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2925" y="1936403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14,456 (image, MusicXML) pairs on HuggingFace (zzsi/openscore)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2925" y="2190304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Also: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OLiMPiC dataset — 18K system-level piano crops with MusicXML</a:t>
            </a:r>
            <a:endParaRPr lang="en-US" sz="1100" dirty="0"/>
          </a:p>
        </p:txBody>
      </p:sp>
      <p:pic>
        <p:nvPicPr>
          <p:cNvPr id="1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Token Bottleneck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99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MusicXML is extremely verbose (~14K tokens per page)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VLM context window: 4,096 tokens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10% of pages fit — models never reach &lt;note&gt; elements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models generate headers/metadata, never actual notes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Impact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9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models tested with XML targets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pitch accuracy across all models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structure but not musical content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 12× compression to fit notes in context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MXC: MusicXML Compact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8760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Line-based encoding: one note = one line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 C4 q 10080 su L1:s:Lord, (= quarter C4, stem up, lyric)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12× compression: 14K tokens → 1.2K tokens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99.2% lossless round-trip on 500 samples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preserves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112037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Pitches, durations, stems, beams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Lyrics (bilingual, syllabic encoding)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Key/time signatures, clefs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Dynamics, directions, barlines</a:t>
            </a:r>
            <a:endParaRPr lang="en-US" sz="10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0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Composer, lyricist, title</a:t>
            </a:r>
            <a:endParaRPr lang="en-US" sz="10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Comparison — MXC Targets</a:t>
            </a:r>
            <a:endParaRPr lang="en-US" sz="2400" dirty="0"/>
          </a:p>
        </p:txBody>
      </p:sp>
      <p:pic>
        <p:nvPicPr>
          <p:cNvPr id="4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3555950"/>
        </p:xfrm>
        <a:graphic>
          <a:graphicData uri="http://schemas.openxmlformats.org/drawingml/2006/table">
            <a:tbl>
              <a:tblPr/>
              <a:tblGrid>
                <a:gridCol w="2011680"/>
                <a:gridCol w="731520"/>
                <a:gridCol w="1645920"/>
                <a:gridCol w="1097280"/>
                <a:gridCol w="1097280"/>
              </a:tblGrid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Size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Pitched-only Sim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eval_loss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DeepSeek-OCR-2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0.315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Gemma-3 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4.4B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0.216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Ministral-3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3.9B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10%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0.109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8B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16%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0.166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Qwen3-VL 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32B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23%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31%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</a:rPr>
                        <a:t>0.147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7993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Qwen3.5-9B r=32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9.5B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35%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0.149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 Reading Breakthrough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00931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Before MXC (XML targets)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1298525"/>
            <a:ext cx="3930700" cy="7111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model generates pitched notes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tokens consumed by XML preamble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learn syntax, not music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65600" y="962025"/>
            <a:ext cx="12650" cy="4029075"/>
          </a:xfrm>
          <a:prstGeom prst="rect">
            <a:avLst/>
          </a:prstGeom>
          <a:solidFill>
            <a:srgbClr val="D9D5D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4832152" y="962025"/>
            <a:ext cx="400946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After MXC (Qwen3.5-9B)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832152" y="1298525"/>
            <a:ext cx="3930848" cy="9904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35% avg pitched-only similarity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 positional accuracy on best samples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123 consecutive correct events</a:t>
            </a:r>
            <a:endParaRPr lang="en-US" sz="1100" dirty="0"/>
          </a:p>
          <a:p>
            <a:pPr algn="l" marL="342900" indent="-342900">
              <a:spcAft>
                <a:spcPts val="1000"/>
              </a:spcAft>
              <a:buSzPct val="100000"/>
              <a:buChar char="•"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VLM to read pitch from staff positions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Example: Predicted vs Reference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873448"/>
            <a:ext cx="854964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600"/>
              </a:spcAft>
              <a:buNone/>
            </a:pPr>
            <a:r>
              <a:rPr lang="en-US" sz="14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Pitch-by-pitch comparison (lc5800427, step 1000)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81000" y="2286149"/>
            <a:ext cx="8382000" cy="1136452"/>
          </a:xfrm>
          <a:prstGeom prst="roundRect">
            <a:avLst>
              <a:gd name="adj" fmla="val 6705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44426" y="2549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Pred:</a:t>
            </a:r>
            <a:pPr algn="l" indent="0" marL="0">
              <a:spcAft>
                <a:spcPts val="1200"/>
              </a:spcAft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4426" y="2930575"/>
            <a:ext cx="80122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Ref:</a:t>
            </a:r>
            <a:pPr algn="l" indent="0" marL="0">
              <a:buNone/>
            </a:pPr>
            <a:r>
              <a:rPr lang="en-US" sz="1600" dirty="0">
                <a:solidFill>
                  <a:srgbClr val="4421D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E4 A4 B4 C5 C5 B4 D5 C5 B4 A4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297180" y="3625751"/>
            <a:ext cx="854964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1600"/>
              </a:spcBef>
              <a:buNone/>
            </a:pPr>
            <a:r>
              <a:rPr lang="en-US" sz="13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 pitches correct</a:t>
            </a:r>
            <a:pPr algn="ctr" indent="0" marL="0">
              <a:spcBef>
                <a:spcPts val="1600"/>
              </a:spcBef>
              <a:buNone/>
            </a:pPr>
            <a:r>
              <a:rPr lang="en-US" sz="13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 this passage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97180" y="3927277"/>
            <a:ext cx="8549640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Bef>
                <a:spcPts val="800"/>
              </a:spcBef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correctly reads note positions from staff lines and spaces</a:t>
            </a:r>
            <a:endParaRPr lang="en-US" sz="1100" dirty="0"/>
          </a:p>
        </p:txBody>
      </p:sp>
      <p:pic>
        <p:nvPicPr>
          <p:cNvPr id="10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LoRA Rank Sweep (Qwen3.5-9B)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3400425"/>
            <a:ext cx="8382000" cy="495300"/>
          </a:xfrm>
          <a:prstGeom prst="roundRect">
            <a:avLst>
              <a:gd name="adj" fmla="val 10256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2925" y="3562350"/>
            <a:ext cx="82193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insight:</a:t>
            </a:r>
            <a:pPr algn="l" indent="0" marL="0">
              <a:buNone/>
            </a:pPr>
            <a:r>
              <a:rPr lang="en-US" sz="12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r=32 is the sweet spot. r=64 overfits without improving pitch.</a:t>
            </a:r>
            <a:endParaRPr lang="en-US" sz="1200" dirty="0"/>
          </a:p>
        </p:txBody>
      </p:sp>
      <p:pic>
        <p:nvPicPr>
          <p:cNvPr id="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81000" y="962025"/>
          <a:ext cx="8382000" cy="2286000"/>
        </p:xfrm>
        <a:graphic>
          <a:graphicData uri="http://schemas.openxmlformats.org/drawingml/2006/table">
            <a:tbl>
              <a:tblPr/>
              <a:tblGrid>
                <a:gridCol w="1645920"/>
                <a:gridCol w="2011680"/>
                <a:gridCol w="1645920"/>
                <a:gridCol w="1645920"/>
              </a:tblGrid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LoRA Rank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Trainable Params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Pitch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Rhythm Similarity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1159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r=16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51M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33%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r=32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102M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36%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E41159"/>
                          </a:solidFill>
                        </a:rPr>
                        <a:t>46%</a:t>
                      </a:r>
                      <a:endParaRPr lang="en-US" sz="10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r=64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204M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32%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</a:rPr>
                        <a:t>46%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5D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Findings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17475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&gt; Size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17475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Qwen3.5-9B (9.5B) beats Qwen3-VL-32B (32B) — architecture revision matters more than 3.5× parameter count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622602" y="962025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4759077" y="1098500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 is Critical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59077" y="1314301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enables note generation. XML never works — tokens consumed by verbose markup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81000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517475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Models &lt; 8B Fail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17475" y="2224534"/>
            <a:ext cx="3944493" cy="1599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3-4B models cannot learn pitch regardless of architecture or LoRA rank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622602" y="1872258"/>
            <a:ext cx="4140101" cy="808732"/>
          </a:xfrm>
          <a:prstGeom prst="roundRect">
            <a:avLst>
              <a:gd name="adj" fmla="val 9422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759077" y="2008733"/>
            <a:ext cx="394449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100" b="1" dirty="0">
                <a:solidFill>
                  <a:srgbClr val="E4115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is the Bottleneck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9077" y="2224534"/>
            <a:ext cx="3944493" cy="3199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converged at 35% on 3K samples. More/better training data is the next lever</a:t>
            </a:r>
            <a:endParaRPr lang="en-US" sz="900" dirty="0"/>
          </a:p>
        </p:txBody>
      </p:sp>
      <p:pic>
        <p:nvPicPr>
          <p:cNvPr id="16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What’s Next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12775"/>
            <a:ext cx="8382000" cy="1314301"/>
          </a:xfrm>
          <a:prstGeom prst="roundRect">
            <a:avLst>
              <a:gd name="adj" fmla="val 3865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2925" y="1174700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Synthetic training data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graduated difficulty ladder (simple → complex) to diagnose failure modes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2925" y="1454051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OLiMPiC dataset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18K system-level piano crops, currently training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2925" y="1733401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RL with musical correctness rewards</a:t>
            </a:r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valid MXC, duration sums, pitch range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2925" y="2012752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Larger training corpus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with controlled pitch coverage</a:t>
            </a:r>
            <a:endParaRPr lang="en-US" sz="1100" dirty="0"/>
          </a:p>
        </p:txBody>
      </p:sp>
      <p:pic>
        <p:nvPicPr>
          <p:cNvPr id="9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809625"/>
          </a:xfrm>
          <a:prstGeom prst="rect">
            <a:avLst/>
          </a:prstGeom>
          <a:solidFill>
            <a:srgbClr val="E41159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81000" y="228600"/>
            <a:ext cx="8549640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Resources &amp; Links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81000" y="1012775"/>
            <a:ext cx="8382000" cy="1745754"/>
          </a:xfrm>
          <a:prstGeom prst="roundRect">
            <a:avLst>
              <a:gd name="adj" fmla="val 2910"/>
            </a:avLst>
          </a:prstGeom>
          <a:solidFill>
            <a:srgbClr val="F5F3F2"/>
          </a:solidFill>
          <a:ln w="9525">
            <a:solidFill>
              <a:srgbClr val="D9D5D2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42925" y="1174700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github.com/kungfuai/CVlization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(vintage-music-sheet branch)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542925" y="1428601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Dataset: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huggingface.co/datasets/zzsi/openscore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42925" y="1682502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4421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wandb.ai/zzsi_kungfu/openscore-omr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42925" y="1936403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MXC format spec: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vlm_omr_sft/MXC.md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42925" y="2190304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tool:</a:t>
            </a:r>
            <a:pPr algn="l"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vlm_omr_sft/eval_mxc.py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2925" y="2444204"/>
            <a:ext cx="8219313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Reports:</a:t>
            </a:r>
            <a:pPr algn="l" indent="0" marL="0">
              <a:buNone/>
            </a:pPr>
            <a:r>
              <a:rPr lang="en-US" sz="1100" dirty="0">
                <a:solidFill>
                  <a:srgbClr val="110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vlm_omr_sft/reports/</a:t>
            </a:r>
            <a:endParaRPr lang="en-US" sz="1100" dirty="0"/>
          </a:p>
        </p:txBody>
      </p:sp>
      <p:pic>
        <p:nvPicPr>
          <p:cNvPr id="11" name="Image 0" descr="/home/zsi/projects/worktrees/CVlization/vintage-music-sheet/examples/perception/optical_music_recognition/slides-omr-mxc/kungfu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5198" y="4562624"/>
            <a:ext cx="634901" cy="45392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Optical Music Recognition with VLMs</dc:title>
  <dc:subject>PptxGenJS Presentation</dc:subject>
  <dc:creator>KungFu AI</dc:creator>
  <cp:lastModifiedBy>KungFu AI</cp:lastModifiedBy>
  <cp:revision>1</cp:revision>
  <dcterms:created xsi:type="dcterms:W3CDTF">2026-03-30T08:48:09Z</dcterms:created>
  <dcterms:modified xsi:type="dcterms:W3CDTF">2026-03-30T08:48:09Z</dcterms:modified>
</cp:coreProperties>
</file>