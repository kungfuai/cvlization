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34901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17381" y="1862138"/>
            <a:ext cx="690923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 Music Recognition with VLMs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90004" y="2443163"/>
            <a:ext cx="336399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&amp; Model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603336" y="3081338"/>
            <a:ext cx="19371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KungFu AI — March 2026</a:t>
            </a:r>
            <a:endParaRPr lang="en-US" sz="13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Case: A Vintage 1884 Waltz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2111425"/>
            <a:ext cx="41711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Biddle's Piano Waltz (1884), Library of Congress scan.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2365325"/>
            <a:ext cx="41711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challenges: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1000" y="2619226"/>
            <a:ext cx="4089350" cy="8763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Faded ink, aged paper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Ornate typography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Ornamental intro with grace notes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change mid-piece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1000" y="3597027"/>
            <a:ext cx="4171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tested every approach on this page.</a:t>
            </a:r>
            <a:endParaRPr lang="en-US" sz="1000" dirty="0"/>
          </a:p>
        </p:txBody>
      </p:sp>
      <p:pic>
        <p:nvPicPr>
          <p:cNvPr id="8" name="Image 0" descr="/home/zsi/projects/worktrees/CVlization/vintage-music-sheet/examples/perception/optical_music_recognition/slides-omr-mxc/vintage_score_18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2911" y="1011138"/>
            <a:ext cx="3050530" cy="3828901"/>
          </a:xfrm>
          <a:prstGeom prst="rect">
            <a:avLst/>
          </a:prstGeom>
        </p:spPr>
      </p:pic>
      <p:pic>
        <p:nvPicPr>
          <p:cNvPr id="9" name="Image 1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Approaches to OMR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Rule-based (Audiveris)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01651"/>
            <a:ext cx="394449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OMR engine. Failed on vintage scan: spurious key changes, sparse notes, wrong beat counts. Works on clean modern prints only.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OMR Transformer (SMT)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0165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GrandStaff dataset. 4% CER on clean crops. Degrades badly on vintage: note collisions, missing staves. Needs system-level crops, not full pages.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200218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13866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Zero-shot VLMs (Frontier APIs)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34181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3.1 Pro, Claude Opus 4.6, GPT-5.2 Pro. Gemini produced the best output. All disagree on key signature. Useful for metadata, not note-level transcription.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200218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13866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Fine-tuned VLMs (This work)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34181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 on open-source VLMs with MXC format. First approach to produce pitched notes from page images. Best result: 35% pitch similarity with Qwen3.5-9B.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300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VLM Comparison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580876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LilyPond renders of ekern output from each model on vintage_score_1884.jpg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18948" y="1082278"/>
            <a:ext cx="8164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3.1 Pro</a:t>
            </a:r>
            <a:endParaRPr lang="en-US" sz="900" dirty="0"/>
          </a:p>
        </p:txBody>
      </p:sp>
      <p:pic>
        <p:nvPicPr>
          <p:cNvPr id="6" name="Image 0" descr="/home/zsi/projects/worktrees/CVlization/vintage-music-sheet/examples/perception/optical_music_recognition/slides-omr-mxc/gemini3_rendered_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366" y="1215628"/>
            <a:ext cx="2353568" cy="33209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54077" y="4587329"/>
            <a:ext cx="27461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output. Correct waltz texture. Key wrong (G major).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5071" y="1082278"/>
            <a:ext cx="9135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</a:t>
            </a:r>
            <a:endParaRPr lang="en-US" sz="900" dirty="0"/>
          </a:p>
        </p:txBody>
      </p:sp>
      <p:pic>
        <p:nvPicPr>
          <p:cNvPr id="9" name="Image 1" descr="/home/zsi/projects/worktrees/CVlization/vintage-music-sheet/examples/perception/optical_music_recognition/slides-omr-mxc/claude_opus_rendered_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067" y="1215628"/>
            <a:ext cx="2353568" cy="33209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98776" y="4587329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labels correct. Stopped early. Key wrong (C major).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7044322" y="1082278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 (trained)</a:t>
            </a:r>
            <a:endParaRPr lang="en-US" sz="900" dirty="0"/>
          </a:p>
        </p:txBody>
      </p:sp>
      <p:pic>
        <p:nvPicPr>
          <p:cNvPr id="12" name="Image 2" descr="/home/zsi/projects/worktrees/CVlization/vintage-music-sheet/examples/perception/optical_music_recognition/slides-omr-mxc/smt_omr_rendered_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917" y="1215628"/>
            <a:ext cx="2353568" cy="332095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43626" y="4587329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structural detail. Note collisions. Key wrong (Bb major).</a:t>
            </a:r>
            <a:endParaRPr lang="en-US" sz="900" dirty="0"/>
          </a:p>
        </p:txBody>
      </p:sp>
      <p:pic>
        <p:nvPicPr>
          <p:cNvPr id="14" name="Image 3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809327"/>
            <a:ext cx="4197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(full pages)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056977"/>
            <a:ext cx="41970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14,456 page images with per-page MusicXML from OpenScore corpus (lieder, quartets, orchestra). Rendered with LilyPond.</a:t>
            </a:r>
            <a:endParaRPr lang="en-US" sz="1000" dirty="0"/>
          </a:p>
        </p:txBody>
      </p:sp>
      <p:pic>
        <p:nvPicPr>
          <p:cNvPr id="6" name="Image 0" descr="/home/zsi/projects/worktrees/CVlization/vintage-music-sheet/examples/perception/optical_music_recognition/slides-omr-mxc/openscore_s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418927"/>
            <a:ext cx="1365796" cy="1924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3431828"/>
            <a:ext cx="41970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page: voice + piano, lyrics, 835x1181px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648200" y="809327"/>
            <a:ext cx="4197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(system crops)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48200" y="1133177"/>
            <a:ext cx="41970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15,014 system-level piano crops with MusicXML. One grand staff per image. From ICDAR 2024.</a:t>
            </a:r>
            <a:endParaRPr lang="en-US" sz="1000" dirty="0"/>
          </a:p>
        </p:txBody>
      </p:sp>
      <p:pic>
        <p:nvPicPr>
          <p:cNvPr id="10" name="Image 1" descr="/home/zsi/projects/worktrees/CVlization/vintage-music-sheet/examples/perception/optical_music_recognition/slides-omr-mxc/olimpic_s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571327"/>
            <a:ext cx="3575000" cy="90561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48200" y="2603897"/>
            <a:ext cx="41970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crop: piano only, ~3000x700px</a:t>
            </a:r>
            <a:endParaRPr lang="en-US" sz="800" dirty="0"/>
          </a:p>
        </p:txBody>
      </p:sp>
      <p:pic>
        <p:nvPicPr>
          <p:cNvPr id="12" name="Image 2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OMR?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6350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sheet music images to symbolic notation (MusicXML)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editing, playback, search of scanned scores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Hard: 2D layout, polyphony, small symbols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VLMs?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71110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Vision-Language Models see the full page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image to notation in one pass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separate detection/recognition stages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Dataset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1542455"/>
          </a:xfrm>
          <a:prstGeom prst="roundRect">
            <a:avLst>
              <a:gd name="adj" fmla="val 3293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OpenScore corpus (1,460 lieder, 122 quartets, 94 orchestra scores)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8226" y="15046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MusicXML → LilyPond → PNG page images (835x1181 px)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8226" y="1758553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music21 splits MusicXML per page using SVG bar numbers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226" y="2012454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14,456 (image, MusicXML) pairs on HuggingFace (zzsi/openscore)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8226" y="2266355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OLiMPiC dataset — 18K system-level piano crops with MusicXML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1000" y="2834580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1000" y="3107531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→ LilyPond Docker → SVG pages → bar number extraction → per-page MusicXML slice → HuggingFace push</a:t>
            </a:r>
            <a:endParaRPr lang="en-US" sz="1100" dirty="0"/>
          </a:p>
        </p:txBody>
      </p:sp>
      <p:pic>
        <p:nvPicPr>
          <p:cNvPr id="12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9252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Creation: From MusicXML to Training Pairs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80752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Render pages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009352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scores from OpenScore corpus rendered to SVG/PNG via LilyPond in Docker. All bar numbers forced visible for later extraction.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1000" y="1377553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Extract page boundaries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1606153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SVG text elements to find bar numbers. Heuristic: most common font size = bar numbers. Filter outliers via consecutive-integer clustering.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1000" y="1974354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Slice MusicXML per page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202954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music21 extracts measures bar_start to bar_end for each page. Handles pickup bars (measure 0) with auto-offset. Retries with gatherSpanners=False for arpeggio bugs.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2571155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Push to HuggingFace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2799755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(PNG image, per-page MusicXML, score_id, page, bars). Streaming-friendly Parquet with corpus column for predicate pushdown.</a:t>
            </a:r>
            <a:endParaRPr lang="en-US" sz="900" dirty="0"/>
          </a:p>
        </p:txBody>
      </p:sp>
      <p:pic>
        <p:nvPicPr>
          <p:cNvPr id="12" name="Image 0" descr="/home/zsi/projects/worktrees/CVlization/vintage-music-sheet/examples/perception/optical_music_recognition/slides-omr-mxc/openscore_page1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0684" y="843558"/>
            <a:ext cx="2812852" cy="397058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86245" y="4864894"/>
            <a:ext cx="18615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lc6583477 p1: "Just for Today" bars 1-29</a:t>
            </a:r>
            <a:endParaRPr lang="en-US" sz="800" dirty="0"/>
          </a:p>
        </p:txBody>
      </p:sp>
      <p:pic>
        <p:nvPicPr>
          <p:cNvPr id="14" name="Image 1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9252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Data Looks Like: XML vs MXC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55452"/>
            <a:ext cx="41841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MusicXML (149K chars, ~14K tokens)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1000" y="949077"/>
            <a:ext cx="4102150" cy="1903809"/>
          </a:xfrm>
          <a:prstGeom prst="roundRect">
            <a:avLst>
              <a:gd name="adj" fmla="val 266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" y="1034802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&lt;score-partwise version="4.0"&gt;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66725" y="115029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&lt;work&gt;&lt;work-title&gt;Just for Today&lt;/work-title&gt;&lt;/work&gt;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66725" y="126578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&lt;identification&gt;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66725" y="138127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&lt;creator type="composer"&gt;J.B. Abbott&lt;/creator&gt;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66725" y="149676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&lt;encoding&gt;...&lt;/encoding&gt;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66725" y="1612255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&lt;/identification&gt;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66725" y="172774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&lt;defaults&gt;...&lt;/defaults&gt;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66725" y="184323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&lt;part-list&gt;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66725" y="1958727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&lt;score-part id="P1"&gt;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66725" y="207421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&lt;part-name&gt;Voice&lt;/part-name&gt;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66725" y="218970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&lt;score-instrument id="Ic30e..."&gt;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66725" y="230519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&lt;instrument-name&gt;Voice&lt;/instrument-name&gt;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66725" y="242068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&lt;/score-instrument&gt;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66725" y="2536180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&lt;midi-instrument id="Ic30e..."&gt;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66725" y="2651671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110A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(149,709 chars total)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81000" y="2903637"/>
            <a:ext cx="41841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~10% of pages fit in 4K token context window. Models never see the actual notes.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60850" y="755452"/>
            <a:ext cx="41841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Compact (15K chars, ~1.2K tokens)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0850" y="949077"/>
            <a:ext cx="4102150" cy="1903809"/>
          </a:xfrm>
          <a:prstGeom prst="roundRect">
            <a:avLst>
              <a:gd name="adj" fmla="val 266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46575" y="1034802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 work-title="Just for Today"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746575" y="115029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 composer="Jane Bingham Abbott"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46575" y="126578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Voice Ob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46575" y="138127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Piano Pno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746575" y="149676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746575" y="1612255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46575" y="172774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1 div=10080 key=-1 time=3/4 clef=G2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746575" y="184323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 @above [font-weight=bold] Andante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746575" y="1958727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whole 30240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746575" y="207421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6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746575" y="218970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C4 q 10080 su L1:s:Lord, L2:s:Let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46575" y="230519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Bn03 e 5040 acc=natural su L1:s:for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46575" y="242068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C4 e 5040 su L1:b:to L2:s:both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746575" y="2536180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D4 e 5040 su L1:e:day L2:s:seek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746575" y="2651671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110A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(actual notes with pitches and lyrics)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660850" y="2903637"/>
            <a:ext cx="4184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smaller.</a:t>
            </a:r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Notes highlighted in pink are actual pitched content that the model can now learn from.</a:t>
            </a:r>
            <a:endParaRPr lang="en-US" sz="800" dirty="0"/>
          </a:p>
        </p:txBody>
      </p:sp>
      <p:pic>
        <p:nvPicPr>
          <p:cNvPr id="4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1050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Challenges and Scale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908000"/>
            <a:ext cx="41711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challenges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180951"/>
            <a:ext cx="4089350" cy="193863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failures: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81/1,460 lieder, 4/122 quartets, 2/94 orchestra scores failed LilyPond rendering (syntax errors, zero-duration objects)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music21 slicing bugs: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arpeggio spanners cause TypeError; retry with gatherSpanners=False. "Measure already in stream" on some page boundaries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SVG bar number parsing: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signature denominators have same font size as bar numbers; disambiguate by keeping largest consecutive-integer cluster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bars: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23% of lieder have measure 0; auto-detect and offset SVG bar numbers by -1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12-20 hours per corpus (Docker render + music21 slicing)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673501" y="908000"/>
            <a:ext cx="41712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dataset stats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73501" y="1180951"/>
            <a:ext cx="4089499" cy="803077"/>
          </a:xfrm>
          <a:prstGeom prst="roundRect">
            <a:avLst>
              <a:gd name="adj" fmla="val 6326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09976" y="1317427"/>
            <a:ext cx="3892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Lieder: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3,312 train / 209 dev / 223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9976" y="1511052"/>
            <a:ext cx="3892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Quartets: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6,274 train / 136 dev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09976" y="1704677"/>
            <a:ext cx="3892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Orchestra:</a:t>
            </a:r>
            <a:pPr algn="l" indent="0" marL="0"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4,870 train / 242 test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501" y="2085529"/>
            <a:ext cx="41712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73501" y="2358479"/>
            <a:ext cx="4089499" cy="82272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3/500 lieder samples have malformed XML (music21 export bugs)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7/27,632 lyric elements contain non-breaking spaces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 quartet pages skipped (page-number-only, no bar content)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issues documented in page_musicxml_runs.md for future fixes</a:t>
            </a:r>
            <a:endParaRPr lang="en-US" sz="900" dirty="0"/>
          </a:p>
        </p:txBody>
      </p:sp>
      <p:pic>
        <p:nvPicPr>
          <p:cNvPr id="13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Bottleneck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is extremely verbose (~14K tokens per page)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context window: 4,096 tokens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10% of pages fit — models never reach note elements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generate headers/metadata, never actual notes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models tested with XML targets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pitch accuracy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across all models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structure but not musical content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12x compression to fit notes in context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MXC: MusicXML Compact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3805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Line-based encoding: one note = one line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C4 q 10080 su L1:s:Lord,</a:t>
            </a:r>
            <a:pPr algn="l"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quarter C4, stem up, lyric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compression:</a:t>
            </a:r>
            <a:pPr algn="l"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14K tokens → 1.2K tokens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99.2% lossless round-trip on 500 samples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Preserves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1069777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Pitches, durations, stems, beams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Lyrics (bilingual, syllabic encoding)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Key/time signatures, clefs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Dynamics, directions, barlines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Composer, lyricist, title</a:t>
            </a:r>
            <a:endParaRPr lang="en-US" sz="10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— MXC Targets</a:t>
            </a:r>
            <a:endParaRPr lang="en-US" sz="2400" dirty="0"/>
          </a:p>
        </p:txBody>
      </p:sp>
      <p:pic>
        <p:nvPicPr>
          <p:cNvPr id="4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355595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1645920"/>
                <a:gridCol w="1097280"/>
                <a:gridCol w="1097280"/>
              </a:tblGrid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Pitched-only Sim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eval_loss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DeepSeek-OCR-2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Gemma-3 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Ministral-3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3.9B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Qwen3.5-9B r=32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9.5B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0.149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Reading Breakthrough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MXC (XML targets)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6602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generates pitched notes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tokens consumed by XML preamble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syntax, not music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MXC (Qwen3.5-9B)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avg pitched-only similarity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positional accuracy on best samples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consecutive correct events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VLM to read pitch from staff positions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Predicted vs Reference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873448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Pitch-by-pitch comparison (lc5800427, step 1000)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2286149"/>
            <a:ext cx="8382000" cy="1136452"/>
          </a:xfrm>
          <a:prstGeom prst="roundRect">
            <a:avLst>
              <a:gd name="adj" fmla="val 6705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4426" y="2549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</a:t>
            </a:r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4426" y="2930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</a:t>
            </a:r>
            <a:pPr algn="l" indent="0" marL="0"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97180" y="362575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3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pitches correct</a:t>
            </a:r>
            <a:pPr algn="ctr" indent="0" marL="0">
              <a:spcBef>
                <a:spcPts val="16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this passage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" y="3927277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correctly reads note positions from staff lines and spaces</a:t>
            </a:r>
            <a:endParaRPr lang="en-US" sz="1100" dirty="0"/>
          </a:p>
        </p:txBody>
      </p:sp>
      <p:pic>
        <p:nvPicPr>
          <p:cNvPr id="1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Rank Sweep (Qwen3.5-9B)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3476625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3787676"/>
            <a:ext cx="8549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r=32 is the sweet spot. r=64 overfits without improving pitch. LoRA rank was fully explored (r=8, 16, 32, 64) on both Ministral-3 and Qwen3.5-9B.</a:t>
            </a:r>
            <a:endParaRPr lang="en-US" sz="12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22860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645920"/>
                <a:gridCol w="1645920"/>
              </a:tblGrid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LoRA 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Trainable Params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51M (0.54%)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r=32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102M (1.07%)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36%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204M (2.12%)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&gt; Size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 (9.5B) beats Qwen3-VL-32B (32B). Architecture revision matters more than 3.5x parameter count.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is Critical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enables note generation. XML never works — tokens consumed by verbose markup before reaching notes.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&lt; 8B Fail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3-4B models cannot learn pitch regardless of architecture or LoRA rank. Minimum ~9B needed for pitch reading.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the Bottleneck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converged at 35% on 3K samples. More and better training data is the next lever for improvement.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1364903"/>
          </a:xfrm>
          <a:prstGeom prst="roundRect">
            <a:avLst>
              <a:gd name="adj" fmla="val 37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training data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Graduated difficulty ladder (simple to complex) to diagnose where pitch discrimination fails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8226" y="153010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dataset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18K system-level piano crops, currently training with Qwen3.5-9B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8226" y="18094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with musical correctness rewards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Valid MXC syntax, duration sums, pitch range as reward signals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226" y="2088803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training corpus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Controlled pitch coverage across all octaves and clefs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and Links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2037904"/>
          </a:xfrm>
          <a:prstGeom prst="roundRect">
            <a:avLst>
              <a:gd name="adj" fmla="val 2493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github.com/kungfuai/CVlization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(vintage-music-sheet branch)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226" y="15491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huggingface.co/datasets/zzsi/openscore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8226" y="18475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wandb.ai/zzsi_kungfu/openscore-omr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8226" y="2145953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spec: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vlm_omr_sft/MXC.md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226" y="2444353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tool: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vlm_omr_sft/eval_mxc.py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8226" y="2742754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Reports:</a:t>
            </a:r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vlm_omr_sft/reports/</a:t>
            </a:r>
            <a:endParaRPr lang="en-US" sz="1200" dirty="0"/>
          </a:p>
        </p:txBody>
      </p:sp>
      <p:pic>
        <p:nvPicPr>
          <p:cNvPr id="11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Optical Music Recognition with VLMs</dc:title>
  <dc:subject>PptxGenJS Presentation</dc:subject>
  <dc:creator>KungFu AI</dc:creator>
  <cp:lastModifiedBy>KungFu AI</cp:lastModifiedBy>
  <cp:revision>1</cp:revision>
  <dcterms:created xsi:type="dcterms:W3CDTF">2026-03-25T19:13:07Z</dcterms:created>
  <dcterms:modified xsi:type="dcterms:W3CDTF">2026-03-25T19:13:07Z</dcterms:modified>
</cp:coreProperties>
</file>