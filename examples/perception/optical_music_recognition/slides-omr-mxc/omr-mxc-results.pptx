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17381" y="1862138"/>
            <a:ext cx="69092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Music Recognition with VLMs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890004" y="2443163"/>
            <a:ext cx="33639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MXC Format &amp; Model Comparison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03336" y="3081338"/>
            <a:ext cx="1937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3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KungFu AI — March 2026</a:t>
            </a:r>
            <a:endParaRPr lang="en-US" sz="1300" dirty="0"/>
          </a:p>
        </p:txBody>
      </p:sp>
      <p:pic>
        <p:nvPicPr>
          <p:cNvPr id="6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40093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OMR?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298525"/>
            <a:ext cx="3930700" cy="86350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sheet music images to symbolic notation (MusicXML)</a:t>
            </a:r>
            <a:endParaRPr lang="en-US" sz="11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editing, playback, search of scanned scores</a:t>
            </a:r>
            <a:endParaRPr lang="en-US" sz="11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Hard: 2D layout, polyphony, small symbols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65600" y="962025"/>
            <a:ext cx="12650" cy="4029075"/>
          </a:xfrm>
          <a:prstGeom prst="rect">
            <a:avLst/>
          </a:prstGeom>
          <a:solidFill>
            <a:srgbClr val="D9D5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2152" y="962025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VLMs?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2152" y="1298525"/>
            <a:ext cx="3930848" cy="71110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 Models see the full page</a:t>
            </a:r>
            <a:endParaRPr lang="en-US" sz="11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image to notation in one pass</a:t>
            </a:r>
            <a:endParaRPr lang="en-US" sz="11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detection/recognition stages</a:t>
            </a:r>
            <a:endParaRPr lang="en-US" sz="1100" dirty="0"/>
          </a:p>
        </p:txBody>
      </p:sp>
      <p:pic>
        <p:nvPicPr>
          <p:cNvPr id="9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OpenScore Dataset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63526"/>
            <a:ext cx="8382000" cy="1542455"/>
          </a:xfrm>
          <a:prstGeom prst="roundRect">
            <a:avLst>
              <a:gd name="adj" fmla="val 3293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250752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OpenScore corpus (1,460 lieder, 122 quartets, 94 orchestra scores)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8226" y="1504652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Render: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MusicXML → LilyPond → PNG page images (835x1181 px)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8226" y="1758553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Slice: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music21 splits MusicXML per page using SVG bar numbers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8226" y="2012454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14,456 (image, MusicXML) pairs on HuggingFace (zzsi/openscore)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8226" y="2266355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</a:t>
            </a:r>
            <a:pPr algn="l" indent="0" marL="0"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OLiMPiC dataset — 18K system-level piano crops with MusicXML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283458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310753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MusicXML → LilyPond Docker → SVG pages → bar number extraction → per-page MusicXML slice → HuggingFace push</a:t>
            </a:r>
            <a:endParaRPr lang="en-US" sz="1100" dirty="0"/>
          </a:p>
        </p:txBody>
      </p:sp>
      <p:pic>
        <p:nvPicPr>
          <p:cNvPr id="12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Bottleneck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40093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298525"/>
            <a:ext cx="3930700" cy="9141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MusicXML is extremely verbose (~14K tokens per page)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context window: 4,096 tokens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10% of pages fit — models never reach note elements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generate headers/metadata, never actual notes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65600" y="962025"/>
            <a:ext cx="12650" cy="4029075"/>
          </a:xfrm>
          <a:prstGeom prst="rect">
            <a:avLst/>
          </a:prstGeom>
          <a:solidFill>
            <a:srgbClr val="D9D5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2152" y="962025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2152" y="1298525"/>
            <a:ext cx="3930848" cy="9141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models tested with XML targets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pitch accuracy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all models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learn structure but not musical content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12x compression to fit notes in context</a:t>
            </a:r>
            <a:endParaRPr lang="en-US" sz="1100" dirty="0"/>
          </a:p>
        </p:txBody>
      </p:sp>
      <p:pic>
        <p:nvPicPr>
          <p:cNvPr id="9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MXC: MusicXML Compact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40093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298525"/>
            <a:ext cx="3930700" cy="8380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Line-based encoding: one note = one line</a:t>
            </a:r>
            <a:endParaRPr lang="en-US" sz="1000" dirty="0"/>
          </a:p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C4 q 10080 su L1:s:Lord,</a:t>
            </a:r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quarter C4, stem up, lyric</a:t>
            </a:r>
            <a:endParaRPr lang="en-US" sz="1000" dirty="0"/>
          </a:p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12x compression:</a:t>
            </a:r>
            <a:pPr algn="l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14K tokens → 1.2K tokens</a:t>
            </a:r>
            <a:endParaRPr lang="en-US" sz="1000" dirty="0"/>
          </a:p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 lossless round-trip on 500 samples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65600" y="962025"/>
            <a:ext cx="12650" cy="4029075"/>
          </a:xfrm>
          <a:prstGeom prst="rect">
            <a:avLst/>
          </a:prstGeom>
          <a:solidFill>
            <a:srgbClr val="D9D5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2152" y="962025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Preserves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2152" y="1298525"/>
            <a:ext cx="3930848" cy="106977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Pitches, durations, stems, beams</a:t>
            </a:r>
            <a:endParaRPr lang="en-US" sz="1000" dirty="0"/>
          </a:p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Lyrics (bilingual, syllabic encoding)</a:t>
            </a:r>
            <a:endParaRPr lang="en-US" sz="1000" dirty="0"/>
          </a:p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Key/time signatures, clefs</a:t>
            </a:r>
            <a:endParaRPr lang="en-US" sz="1000" dirty="0"/>
          </a:p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Dynamics, directions, barlines</a:t>
            </a:r>
            <a:endParaRPr lang="en-US" sz="1000" dirty="0"/>
          </a:p>
          <a:p>
            <a:pPr algn="l" marL="114300" indent="-1143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Composer, lyricist, title</a:t>
            </a:r>
            <a:endParaRPr lang="en-US" sz="1000" dirty="0"/>
          </a:p>
        </p:txBody>
      </p:sp>
      <p:pic>
        <p:nvPicPr>
          <p:cNvPr id="9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— MXC Targets</a:t>
            </a:r>
            <a:endParaRPr lang="en-US" sz="2400" dirty="0"/>
          </a:p>
        </p:txBody>
      </p:sp>
      <p:pic>
        <p:nvPicPr>
          <p:cNvPr id="4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962025"/>
          <a:ext cx="8382000" cy="355595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1645920"/>
                <a:gridCol w="1097280"/>
                <a:gridCol w="1097280"/>
              </a:tblGrid>
              <a:tr h="5079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Pitched-only Sim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Rhythm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eval_loss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</a:tr>
              <a:tr h="5079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DeepSeek-OCR-2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9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Gemma-3 4B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4.4B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9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Ministral-3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3.9B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9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Qwen3-VL 8B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9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Qwen3-VL 32B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9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1159"/>
                          </a:solidFill>
                        </a:rPr>
                        <a:t>Qwen3.5-9B r=32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1159"/>
                          </a:solidFill>
                        </a:rPr>
                        <a:t>9.5B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1159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1159"/>
                          </a:solidFill>
                        </a:rPr>
                        <a:t>46%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41159"/>
                          </a:solidFill>
                        </a:rPr>
                        <a:t>0.149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Reading Breakthrough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40093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MXC (XML targets)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298525"/>
            <a:ext cx="3930700" cy="6602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generates pitched notes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tokens consumed by XML preamble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learn syntax, not music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65600" y="962025"/>
            <a:ext cx="12650" cy="4029075"/>
          </a:xfrm>
          <a:prstGeom prst="rect">
            <a:avLst/>
          </a:prstGeom>
          <a:solidFill>
            <a:srgbClr val="D9D5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2152" y="962025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MXC (Qwen3.5-9B)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2152" y="1298525"/>
            <a:ext cx="3930848" cy="9141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avg pitched-only similarity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positional accuracy on best samples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consecutive correct events</a:t>
            </a:r>
            <a:endParaRPr lang="en-US" sz="1100" dirty="0"/>
          </a:p>
          <a:p>
            <a:pPr algn="l" marL="114300" indent="-1143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VLM to read pitch from staff positions</a:t>
            </a:r>
            <a:endParaRPr lang="en-US" sz="1100" dirty="0"/>
          </a:p>
        </p:txBody>
      </p:sp>
      <p:pic>
        <p:nvPicPr>
          <p:cNvPr id="9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Predicted vs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873448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Pitch-by-pitch comparison (lc5800427, step 1000)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286149"/>
            <a:ext cx="8382000" cy="1136452"/>
          </a:xfrm>
          <a:prstGeom prst="roundRect">
            <a:avLst>
              <a:gd name="adj" fmla="val 6705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426" y="2549575"/>
            <a:ext cx="8012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442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Pred: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42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E4 A4 B4 C5 C5 B4 D5 C5 B4 A4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4426" y="2930575"/>
            <a:ext cx="8012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42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</a:t>
            </a:r>
            <a:pPr algn="l" indent="0" marL="0">
              <a:buNone/>
            </a:pPr>
            <a:r>
              <a:rPr lang="en-US" sz="1600" dirty="0">
                <a:solidFill>
                  <a:srgbClr val="442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E4 A4 B4 C5 C5 B4 D5 C5 B4 A4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7180" y="362575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3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 pitches correct</a:t>
            </a:r>
            <a:pPr algn="ctr" indent="0" marL="0">
              <a:spcBef>
                <a:spcPts val="1600"/>
              </a:spcBef>
              <a:buNone/>
            </a:pPr>
            <a:r>
              <a:rPr lang="en-US" sz="13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this passage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" y="3927277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correctly reads note positions from staff lines and spaces</a:t>
            </a:r>
            <a:endParaRPr lang="en-US" sz="1100" dirty="0"/>
          </a:p>
        </p:txBody>
      </p:sp>
      <p:pic>
        <p:nvPicPr>
          <p:cNvPr id="10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Rank Sweep (Qwen3.5-9B)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3476625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3787676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r=32 is the sweet spot. r=64 overfits without improving pitch. LoRA rank was fully explored (r=8, 16, 32, 64) on both Ministral-3 and Qwen3.5-9B.</a:t>
            </a:r>
            <a:endParaRPr lang="en-US" sz="1200" dirty="0"/>
          </a:p>
        </p:txBody>
      </p:sp>
      <p:pic>
        <p:nvPicPr>
          <p:cNvPr id="6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962025"/>
          <a:ext cx="83820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64592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LoRA 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Trainable Params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Pitch Similarity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Rhythm Similarity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115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r=16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51M (0.54%)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41159"/>
                          </a:solidFill>
                        </a:rPr>
                        <a:t>r=32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41159"/>
                          </a:solidFill>
                        </a:rPr>
                        <a:t>102M (1.07%)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41159"/>
                          </a:solidFill>
                        </a:rPr>
                        <a:t>36%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41159"/>
                          </a:solidFill>
                        </a:rPr>
                        <a:t>46%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r=64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204M (2.12%)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4140101" cy="808732"/>
          </a:xfrm>
          <a:prstGeom prst="roundRect">
            <a:avLst>
              <a:gd name="adj" fmla="val 9422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475" y="1098500"/>
            <a:ext cx="3944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&gt; Size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7475" y="1314301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Qwen3.5-9B (9.5B) beats Qwen3-VL-32B (32B). Architecture revision matters more than 3.5x parameter count.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22602" y="962025"/>
            <a:ext cx="4140101" cy="808732"/>
          </a:xfrm>
          <a:prstGeom prst="roundRect">
            <a:avLst>
              <a:gd name="adj" fmla="val 9422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9077" y="1098500"/>
            <a:ext cx="3944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is Critical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9077" y="1314301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MXC enables note generation. XML never works — tokens consumed by verbose markup before reaching notes.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1872258"/>
            <a:ext cx="4140101" cy="808732"/>
          </a:xfrm>
          <a:prstGeom prst="roundRect">
            <a:avLst>
              <a:gd name="adj" fmla="val 9422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7475" y="2008733"/>
            <a:ext cx="3944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&lt; 8B Fail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475" y="2224534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3-4B models cannot learn pitch regardless of architecture or LoRA rank. Minimum ~9B needed for pitch reading.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22602" y="1872258"/>
            <a:ext cx="4140101" cy="808732"/>
          </a:xfrm>
          <a:prstGeom prst="roundRect">
            <a:avLst>
              <a:gd name="adj" fmla="val 9422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9077" y="2008733"/>
            <a:ext cx="3944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the Bottleneck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9077" y="2224534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converged at 35% on 3K samples. More and better training data is the next lever for improvement.</a:t>
            </a:r>
            <a:endParaRPr lang="en-US" sz="900" dirty="0"/>
          </a:p>
        </p:txBody>
      </p:sp>
      <p:pic>
        <p:nvPicPr>
          <p:cNvPr id="16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63526"/>
            <a:ext cx="8382000" cy="1364903"/>
          </a:xfrm>
          <a:prstGeom prst="roundRect">
            <a:avLst>
              <a:gd name="adj" fmla="val 3722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250752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training data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Graduated difficulty ladder (simple to complex) to diagnose where pitch discrimination fails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8226" y="1530102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OLiMPiC dataset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18K system-level piano crops, currently training with Qwen3.5-9B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8226" y="1809452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with musical correctness rewards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Valid MXC syntax, duration sums, pitch range as reward signals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8226" y="2088803"/>
            <a:ext cx="8167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training corpus</a:t>
            </a:r>
            <a:pPr algn="l" indent="0" marL="0"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Controlled pitch coverage across all octaves and clefs</a:t>
            </a:r>
            <a:endParaRPr lang="en-US" sz="1100" dirty="0"/>
          </a:p>
        </p:txBody>
      </p:sp>
      <p:pic>
        <p:nvPicPr>
          <p:cNvPr id="9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and Links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63526"/>
            <a:ext cx="8382000" cy="2037904"/>
          </a:xfrm>
          <a:prstGeom prst="roundRect">
            <a:avLst>
              <a:gd name="adj" fmla="val 2493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250752"/>
            <a:ext cx="8167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421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github.com/kungfuai/CVlization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(vintage-music-sheet branch)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8226" y="1549152"/>
            <a:ext cx="8167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421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huggingface.co/datasets/zzsi/openscore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8226" y="1847552"/>
            <a:ext cx="8167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WandB: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421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wandb.ai/zzsi_kungfu/openscore-omr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8226" y="2145953"/>
            <a:ext cx="8167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MXC format spec: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vlm_omr_sft/MXC.md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8226" y="2444353"/>
            <a:ext cx="8167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tool: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vlm_omr_sft/eval_mxc.py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8226" y="2742754"/>
            <a:ext cx="8167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Reports:</a:t>
            </a:r>
            <a:pPr algn="l" indent="0" marL="0">
              <a:buNone/>
            </a:pPr>
            <a:r>
              <a:rPr lang="en-US" sz="12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vlm_omr_sft/reports/</a:t>
            </a:r>
            <a:endParaRPr lang="en-US" sz="1200" dirty="0"/>
          </a:p>
        </p:txBody>
      </p:sp>
      <p:pic>
        <p:nvPicPr>
          <p:cNvPr id="11" name="Image 0" descr="/home/zsi/projects/worktrees/CVlization/vintage-music-sheet/examples/perception/optical_music_recognition/slides-omr-mxc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2624"/>
            <a:ext cx="634901" cy="453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Music Recognition with VLMs</dc:title>
  <dc:subject>PptxGenJS Presentation</dc:subject>
  <dc:creator>KungFu AI</dc:creator>
  <cp:lastModifiedBy>KungFu AI</cp:lastModifiedBy>
  <cp:revision>1</cp:revision>
  <dcterms:created xsi:type="dcterms:W3CDTF">2026-03-25T03:29:05Z</dcterms:created>
  <dcterms:modified xsi:type="dcterms:W3CDTF">2026-03-25T03:29:05Z</dcterms:modified>
</cp:coreProperties>
</file>